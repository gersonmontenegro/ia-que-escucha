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¿Cómo enseñarle a una IA a escuchar?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Exposición: 35 min · Preguntas: 10 min</a:t>
            </a:r>
          </a:p>
          <a:p>
            <a:r>
              <a:t>RAG sobre video: transcripción, búsqueda semántica y respuestas con minuto citado.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0–3 · Una pregunta y un minuto exacto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Demo en vivo: preguntar sobre el video de Saturno.</a:t>
            </a:r>
          </a:p>
          <a:p>
            <a:pPr/>
            <a:r>
              <a:t>Ver la respuesta y los fragmentos que la sustentan.</a:t>
            </a:r>
          </a:p>
          <a:p>
            <a:pPr/>
            <a:r>
              <a:t>Elegir una cita y saltar al momento del video.</a:t>
            </a:r>
          </a:p>
          <a:p>
            <a:pPr/>
            <a:r>
              <a:t>Pregunta: ¿qué acaban de descubrir en Saturno?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3–7 · ¿Qué cambia cuando añadimos RAG?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/>
            <a:r>
              <a:t>SIN RAG</a:t>
            </a:r>
          </a:p>
          <a:p>
            <a:pPr/>
            <a:r>
              <a:t>El modelo responde desde sus parámetros y conocimientos previos.</a:t>
            </a:r>
          </a:p>
          <a:p>
            <a:pPr/>
            <a:r>
              <a:t>Una noticia reciente puede ser desconocida o dar pie a una invención.</a:t>
            </a:r>
          </a:p>
          <a:p>
            <a:pPr/>
            <a:r>
              <a:t>No hay vínculo verificable con el video.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/>
            <a:r>
              <a:t>CON RAG</a:t>
            </a:r>
          </a:p>
          <a:p>
            <a:pPr/>
            <a:r>
              <a:t>Buscamos fragmentos de la transcripción antes de generar.</a:t>
            </a:r>
          </a:p>
          <a:p>
            <a:pPr/>
            <a:r>
              <a:t>El modelo recibe evidencia concreta y cita los fragmentos [n].</a:t>
            </a:r>
          </a:p>
          <a:p>
            <a:pPr/>
            <a:r>
              <a:t>Si el video no lo menciona, la respuesta debe decirlo.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7–10 · Arquitectura: dos recorridos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/>
            <a:r>
              <a:t>INGESTA · preparar el video</a:t>
            </a:r>
          </a:p>
          <a:p>
            <a:pPr/>
            <a:r>
              <a:t>MP4 → Whisper → segmentos con marcas de tiempo.</a:t>
            </a:r>
          </a:p>
          <a:p>
            <a:pPr/>
            <a:r>
              <a:t>Segmentos → chunks → embeddings → Qdrant.</a:t>
            </a:r>
          </a:p>
          <a:p>
            <a:pPr/>
            <a:r>
              <a:t>La transcripción queda en caché para reutilizarla.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/>
            <a:r>
              <a:t>CONSULTA · responder la pregunta</a:t>
            </a:r>
          </a:p>
          <a:p>
            <a:pPr/>
            <a:r>
              <a:t>Pregunta → embedding → búsqueda top-k en Qdrant.</a:t>
            </a:r>
          </a:p>
          <a:p>
            <a:pPr/>
            <a:r>
              <a:t>Qwen recibe pregunta y fragmentos recuperados.</a:t>
            </a:r>
          </a:p>
          <a:p>
            <a:pPr/>
            <a:r>
              <a:t>Respuesta con citas → reproductor en el minuto citado.</a:t>
            </a:r>
          </a:p>
          <a:p>
            <a:pPr/>
            <a:r>
              <a:t>Mapa interactivo Archify: .archify/architecture-rag-conferencia-20261013-223433/arquitectura-rag.html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10–14 · Whisper convierte audio en evidencia temporal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Entrada: video MP4. Salida: segmentos {start, end, text}.</a:t>
            </a:r>
          </a:p>
          <a:p>
            <a:pPr/>
            <a:r>
              <a:t>Las marcas de tiempo permiten regresar al segundo relevante.</a:t>
            </a:r>
          </a:p>
          <a:p>
            <a:pPr/>
            <a:r>
              <a:t>faster-whisper en Docker (CPU) o MLX nativo en Apple Silicon.</a:t>
            </a:r>
          </a:p>
          <a:p>
            <a:pPr/>
            <a:r>
              <a:t>En video.mp4 (10:16): 123,9 s faster-whisper; 17,9 s MLX con modelo en caché.</a:t>
            </a:r>
          </a:p>
          <a:p>
            <a:pPr/>
            <a:r>
              <a:t>La primera ejecución de MLX tardó 81,0 s e incluyó descarga del modelo.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14–18 · Chunking: contexto sin perder el tiempo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/>
            <a:r>
              <a:t>SI SON MUY CORTOS</a:t>
            </a:r>
          </a:p>
          <a:p>
            <a:pPr/>
            <a:r>
              <a:t>Cada vector contiene poco contexto.</a:t>
            </a:r>
          </a:p>
          <a:p>
            <a:pPr/>
            <a:r>
              <a:t>Una idea puede quedar partida entre resultados.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/>
            <a:r>
              <a:t>SI SON MUY LARGOS</a:t>
            </a:r>
          </a:p>
          <a:p>
            <a:pPr/>
            <a:r>
              <a:t>Se mezclan temas y baja la precisión del fragmento recuperado.</a:t>
            </a:r>
          </a:p>
          <a:p>
            <a:pPr/>
            <a:r>
              <a:t>El prompt incluye texto irrelevante.</a:t>
            </a:r>
          </a:p>
          <a:p>
            <a:pPr/>
            <a:r>
              <a:t>Configuración de la demo: máximo 700 caracteres y solapamiento de 1 segmento.</a:t>
            </a:r>
          </a:p>
          <a:p>
            <a:pPr/>
            <a:r>
              <a:t>Cada chunk conserva el inicio y final para citar el minuto.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18–22 · Embeddings: significado como vector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bge-m3 convierte cada fragmento y cada pregunta en un vector de 1024 dimensiones.</a:t>
            </a:r>
          </a:p>
          <a:p>
            <a:pPr/>
            <a:r>
              <a:t>Textos semánticamente parecidos quedan próximos en el espacio vectorial.</a:t>
            </a:r>
          </a:p>
          <a:p>
            <a:pPr/>
            <a:r>
              <a:t>La pregunta y los chunks deben usar el mismo modelo de embeddings.</a:t>
            </a:r>
          </a:p>
          <a:p>
            <a:pPr/>
            <a:r>
              <a:t>Un embedding representa texto; no es una respuesta ni una base de datos.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22–26 · Búsqueda: NumPy explica, Qdrant escala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/>
            <a:r>
              <a:t>NUMPY · a mano</a:t>
            </a:r>
          </a:p>
          <a:p>
            <a:pPr/>
            <a:r>
              <a:t>Normalizamos vectores y calculamos producto punto.</a:t>
            </a:r>
          </a:p>
          <a:p>
            <a:pPr/>
            <a:r>
              <a:t>Ordenamos por similitud coseno y tomamos los mejores k.</a:t>
            </a:r>
          </a:p>
          <a:p>
            <a:pPr/>
            <a:r>
              <a:t>Sirve para ver qué operación hace la búsqueda.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/>
            <a:r>
              <a:t>QDRANT · servicio vectorial</a:t>
            </a:r>
          </a:p>
          <a:p>
            <a:pPr/>
            <a:r>
              <a:t>Guarda vectores y metadatos: texto, video y marcas de tiempo.</a:t>
            </a:r>
          </a:p>
          <a:p>
            <a:pPr/>
            <a:r>
              <a:t>Recupera los 4 fragmentos más similares en esta demo.</a:t>
            </a:r>
          </a:p>
          <a:p>
            <a:pPr/>
            <a:r>
              <a:t>La puntuación ordena resultados; no es una probabilidad de verdad.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26–28 · Generación: qué recibe el modelo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Instrucción: responde solo con la información de los fragmentos.</a:t>
            </a:r>
          </a:p>
          <a:p>
            <a:pPr/>
            <a:r>
              <a:t>Cita los fragmentos [n] y reconoce cuando falta evidencia.</a:t>
            </a:r>
          </a:p>
          <a:p>
            <a:pPr/>
            <a:r>
              <a:t>Prompt = instrucción + fragmentos recuperados + pregunta; modelo: Qwen3.8 27B.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28–30 · Una respuesta que vuelve al video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Los fragmentos conservan texto, video, puntuación y tiempo.</a:t>
            </a:r>
          </a:p>
          <a:p>
            <a:pPr/>
            <a:r>
              <a:t>La cita [n] lleva al momento correspondiente del reproductor.</a:t>
            </a:r>
          </a:p>
          <a:p>
            <a:pPr/>
            <a:r>
              <a:t>Medimos tiempo total, tokens de salida y tokens/s promedio (incluye espera inicial).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30–32 · ¿Cuándo falla el RAG?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/>
            <a:r>
              <a:t>RECUPERACIÓN</a:t>
            </a:r>
          </a:p>
          <a:p>
            <a:pPr/>
            <a:r>
              <a:t>Nombres propios o cifras pueden no recuperarse bien.</a:t>
            </a:r>
          </a:p>
          <a:p>
            <a:pPr/>
            <a:r>
              <a:t>Un chunk mal cortado puede perder contexto.</a:t>
            </a:r>
          </a:p>
          <a:p>
            <a:pPr/>
            <a:r>
              <a:t>Similitud alta no garantiza una respuesta.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/>
            <a:r>
              <a:t>GENERACIÓN</a:t>
            </a:r>
          </a:p>
          <a:p>
            <a:pPr/>
            <a:r>
              <a:t>La pregunta puede estar fuera del video.</a:t>
            </a:r>
          </a:p>
          <a:p>
            <a:pPr/>
            <a:r>
              <a:t>El modelo aún puede inferir de más.</a:t>
            </a:r>
          </a:p>
          <a:p>
            <a:pPr/>
            <a:r>
              <a:t>Inspeccionamos los fragmentos antes de confiar.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32–33 · Mejoras para explorar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Híbrida: significado + palabras exactas.</a:t>
            </a:r>
          </a:p>
          <a:p>
            <a:pPr/>
            <a:r>
              <a:t>Reranking: reordena candidatos; HyDE ayuda a formular la búsqueda.</a:t>
            </a:r>
          </a:p>
          <a:p>
            <a:pPr/>
            <a:r>
              <a:t>Son mejoras para probar, no evidencia nueva.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33–35 · Local, nube y frameworks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/>
            <a:r>
              <a:t>ESTA DEMO</a:t>
            </a:r>
          </a:p>
          <a:p>
            <a:pPr/>
            <a:r>
              <a:t>Ollama local para embeddings y chat.</a:t>
            </a:r>
          </a:p>
          <a:p>
            <a:pPr/>
            <a:r>
              <a:t>Qdrant y Gradio en Docker.</a:t>
            </a:r>
          </a:p>
          <a:p>
            <a:pPr/>
            <a:r>
              <a:t>Proveedores intercambiables por base URL, modelo y clave en .env.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/>
            <a:r>
              <a:t>OTRAS OPCIONES</a:t>
            </a:r>
          </a:p>
          <a:p>
            <a:pPr/>
            <a:r>
              <a:t>OpenAI-compatible permite cambiar a un proveedor en la nube.</a:t>
            </a:r>
          </a:p>
          <a:p>
            <a:pPr/>
            <a:r>
              <a:t>LangChain y LlamaIndex ofrecen componentes y abstracciones para RAG.</a:t>
            </a:r>
          </a:p>
          <a:p>
            <a:pPr/>
            <a:r>
              <a:t>Aquí escribimos el pipeline para hacer visibles sus etapas.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35–45 · Cierre y preguntas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Cierre (35–36): una respuesta útil recupera evidencia y conserva su origen.</a:t>
            </a:r>
          </a:p>
          <a:p>
            <a:pPr/>
            <a:r>
              <a:t>Repo: transcripción → chunks → embeddings → búsqueda → generación.</a:t>
            </a:r>
          </a:p>
          <a:p>
            <a:pPr/>
            <a:r>
              <a:t>Después: retos en docs/retos.md.</a:t>
            </a:r>
          </a:p>
          <a:p>
            <a:pPr/>
            <a:r>
              <a:t>Preguntas del público (36–45).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¿Cómo enseñarle a una IA a escuchar?</dc:title>
  <dc:subject>Primer borrador: conferencia sobre RAG de video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